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μ(t) multiplier</c:v>
                </c:pt>
              </c:strCache>
            </c:strRef>
          </c:tx>
          <c:spPr>
            <a:solidFill>
              <a:srgbClr val="C97F3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97F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D02-4A3E-B406-233A9BD6DB92}"/>
              </c:ext>
            </c:extLst>
          </c:dPt>
          <c:dPt>
            <c:idx val="1"/>
            <c:invertIfNegative val="0"/>
            <c:bubble3D val="0"/>
            <c:spPr>
              <a:solidFill>
                <a:srgbClr val="8DA3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02-4A3E-B406-233A9BD6DB92}"/>
              </c:ext>
            </c:extLst>
          </c:dPt>
          <c:dPt>
            <c:idx val="2"/>
            <c:invertIfNegative val="0"/>
            <c:bubble3D val="0"/>
            <c:spPr>
              <a:solidFill>
                <a:srgbClr val="E0A4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02-4A3E-B406-233A9BD6DB9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07:00-09:00
Morning Rush</c:v>
                </c:pt>
                <c:pt idx="1">
                  <c:v>09:00-11:30
Free Flow</c:v>
                </c:pt>
                <c:pt idx="2">
                  <c:v>11:30-12:00
Lunch Surge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1.3</c:v>
                </c:pt>
                <c:pt idx="1">
                  <c:v>1</c:v>
                </c:pt>
                <c:pt idx="2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D02-4A3E-B406-233A9BD6DB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distance (km)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D5A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E0-4C81-880B-F975B92A449B}"/>
              </c:ext>
            </c:extLst>
          </c:dPt>
          <c:dPt>
            <c:idx val="1"/>
            <c:invertIfNegative val="0"/>
            <c:bubble3D val="0"/>
            <c:spPr>
              <a:solidFill>
                <a:srgbClr val="C97F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E0-4C81-880B-F975B92A449B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Clarke-Wright
(Savings)</c:v>
                </c:pt>
                <c:pt idx="1">
                  <c:v>OR-Tools GLS
(Guided Local Search)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308.10000000000002</c:v>
                </c:pt>
                <c:pt idx="1">
                  <c:v>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E0-4C81-880B-F975B92A44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8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210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005840"/>
            <a:ext cx="640080" cy="457200"/>
          </a:xfrm>
          <a:prstGeom prst="line">
            <a:avLst/>
          </a:prstGeom>
          <a:noFill/>
          <a:ln w="19050">
            <a:solidFill>
              <a:srgbClr val="E0A45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058400" y="1463040"/>
            <a:ext cx="0" cy="640080"/>
          </a:xfrm>
          <a:prstGeom prst="line">
            <a:avLst/>
          </a:prstGeom>
          <a:noFill/>
          <a:ln w="19050">
            <a:solidFill>
              <a:srgbClr val="E0A45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784080" y="2103120"/>
            <a:ext cx="822960" cy="274320"/>
          </a:xfrm>
          <a:prstGeom prst="line">
            <a:avLst/>
          </a:prstGeom>
          <a:noFill/>
          <a:ln w="19050">
            <a:solidFill>
              <a:srgbClr val="E0A45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607040" y="2377440"/>
            <a:ext cx="548640" cy="0"/>
          </a:xfrm>
          <a:prstGeom prst="line">
            <a:avLst/>
          </a:prstGeom>
          <a:noFill/>
          <a:ln w="19050">
            <a:solidFill>
              <a:srgbClr val="E0A458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9377172" y="964692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0017252" y="1421892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742932" y="2061972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0565892" y="2336292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1114532" y="1696212"/>
            <a:ext cx="82296" cy="8229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902" y="812902"/>
            <a:ext cx="294437" cy="29443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RESEARCH — TEAM 01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Oetker – Lidl Distribution Optimisation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4008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Time-Dependent Heterogeneous Vehicle Routing Problem with Time Windows (TDHVRPTW) for regional grocery distribution in the Ostwestfalen-Lippe (OWL) region, Germany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0080" y="4892040"/>
            <a:ext cx="365760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4008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Savings  •  Google OR-Tools  •  Scenario Stress Testing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Delivery from One Depot to 25 Stores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19645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Depot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Oetker, Bielefeld  single origin for every morning route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508" y="196458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847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Lidl Stores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the OWL region; real road distances from Google Maps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988" y="196458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18470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Fleet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5820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heavy trucks (33 pallets) + 4 medium trucks (12 pallets)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028" y="420486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873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Time Windows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709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stores must receive delivery between 08:00 and 12:00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19"/>
          <p:cNvSpPr/>
          <p:nvPr/>
        </p:nvSpPr>
        <p:spPr>
          <a:xfrm>
            <a:off x="4617720" y="4069080"/>
            <a:ext cx="502920" cy="502920"/>
          </a:xfrm>
          <a:prstGeom prst="ellipse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508" y="4204868"/>
            <a:ext cx="231343" cy="231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0873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Congestion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4709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times rise up to 30% during the 07:00-09:00 rush hour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2960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3"/>
          <p:cNvSpPr/>
          <p:nvPr/>
        </p:nvSpPr>
        <p:spPr>
          <a:xfrm>
            <a:off x="8458200" y="4069080"/>
            <a:ext cx="502920" cy="502920"/>
          </a:xfrm>
          <a:prstGeom prst="ellipse">
            <a:avLst/>
          </a:prstGeom>
          <a:solidFill>
            <a:srgbClr val="EAF0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3988" y="4204868"/>
            <a:ext cx="231343" cy="23134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0873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Demand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58200" y="47091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 volumes differ by store size, location, and surge scenario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TDHVRPTW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Simple CVRP Is Not Enough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 Capacitated VRP only handles vehicle capacity. Our case adds three real-world layers, each requiring its own extension: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7F8FA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truck types with different capacities and costs — a medium truck cannot replace a heavy truck without violating capacity.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Toth &amp; Vigo (2014); Koç et al. (2016)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7F8FA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663440" y="2404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TW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6344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08:00-12:00 delivery windows fundamentally change the structure and difficulty of the routing problem.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Solomon (1987)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1B2A4A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503920" y="24048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TD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926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0" y="338328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rush-hour congestion means travel time depends on when a vehicle departs, not just distance.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892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Malandraki &amp; Daskin (1992)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TDHVRPTW — the minimum model that accurately represents the Dr. Oetker distribution problem.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TDHVRPTW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TRAVEL TIMES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 Multiplier μ(t)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= base time × μ(t), where μ(t) follows a step function calibrated to the morning delivery window: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57400"/>
          <a:ext cx="61264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2103120"/>
            <a:ext cx="109728" cy="1097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0" y="1984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step function?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0" y="225856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literature-standard approximation when continuous sensor-level traffic data is unavailable (Malandraki &amp; Daskin, 1992).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086600" y="3182112"/>
            <a:ext cx="109728" cy="1097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3152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specific bands?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0" y="33375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depot's 07:00 departure and the 08:00-12:00 store delivery window exactly.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086600" y="4261104"/>
            <a:ext cx="109728" cy="1097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315200" y="41422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315200" y="4416552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multiplier applied to every arc at a given time — does not capture link-level variation (e.g., motorway vs. local street).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TDHVRPTW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Stress-Testing Across Three Demand Levels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06837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S-99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Weekday Baseline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pallets total demand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4297680"/>
            <a:ext cx="297180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3p • Medium 4p • High 5p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89120" y="16002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663440" y="1920240"/>
            <a:ext cx="548640" cy="548640"/>
          </a:xfrm>
          <a:prstGeom prst="ellipse">
            <a:avLst/>
          </a:prstGeom>
          <a:solidFill>
            <a:srgbClr val="C97F3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573" y="2068373"/>
            <a:ext cx="252374" cy="2523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S-152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66344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 Surge Day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466344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97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4600" dirty="0"/>
          </a:p>
        </p:txBody>
      </p:sp>
      <p:sp>
        <p:nvSpPr>
          <p:cNvPr id="19" name="Text 15"/>
          <p:cNvSpPr/>
          <p:nvPr/>
        </p:nvSpPr>
        <p:spPr>
          <a:xfrm>
            <a:off x="466344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pallets total demand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63440" y="4297680"/>
            <a:ext cx="297180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7"/>
          <p:cNvSpPr/>
          <p:nvPr/>
        </p:nvSpPr>
        <p:spPr>
          <a:xfrm>
            <a:off x="4663440" y="4434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5p • Medium 6p • High 7p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29600" y="16002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7F8FA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9"/>
          <p:cNvSpPr/>
          <p:nvPr/>
        </p:nvSpPr>
        <p:spPr>
          <a:xfrm>
            <a:off x="8503920" y="1920240"/>
            <a:ext cx="548640" cy="548640"/>
          </a:xfrm>
          <a:prstGeom prst="ellipse">
            <a:avLst/>
          </a:prstGeom>
          <a:solidFill>
            <a:srgbClr val="B5443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053" y="2068373"/>
            <a:ext cx="252374" cy="25237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235440" y="1920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S-170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8503920" y="25603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Fleet Stress Test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8503920" y="31089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5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174</a:t>
            </a:r>
            <a:endParaRPr lang="en-US" sz="4600" dirty="0"/>
          </a:p>
        </p:txBody>
      </p:sp>
      <p:sp>
        <p:nvSpPr>
          <p:cNvPr id="28" name="Text 23"/>
          <p:cNvSpPr/>
          <p:nvPr/>
        </p:nvSpPr>
        <p:spPr>
          <a:xfrm>
            <a:off x="8503920" y="38862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pallets total demand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8503920" y="4297680"/>
            <a:ext cx="2971800" cy="0"/>
          </a:xfrm>
          <a:prstGeom prst="line">
            <a:avLst/>
          </a:prstGeom>
          <a:noFill/>
          <a:ln w="12700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5"/>
          <p:cNvSpPr/>
          <p:nvPr/>
        </p:nvSpPr>
        <p:spPr>
          <a:xfrm>
            <a:off x="8503920" y="4434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6p • Medium 7p • High 8p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classes (low/medium/high) scale together across scenarios while keeping each store's relative classification fixed.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TDHVRPTW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Complementary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57" y="203499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Savings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267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 Heuristic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2834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Greedily merges routes by maximum distance savings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4564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" y="34564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(sub-millisecond), fully interpretable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407822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43000" y="407822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optimality guarantee  cannot undo early merges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68680" y="470001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43000" y="47000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transparent baseline reference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8680" y="5212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 &amp; Wright (1964)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355080" y="155448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6675120" y="187452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597" y="2034997"/>
            <a:ext cx="273406" cy="27340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06640" y="1874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GLS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406640" y="2267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Metaheuristic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67512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949440" y="283464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PATH_CHEAPEST_ARC construction + Guided Local Search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675120" y="34564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949440" y="345643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far more of the solution space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675120" y="407822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6949440" y="407822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search budget per scenario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6675120" y="470001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949440" y="47000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solution, no formal optimality bound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675120" y="521208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Perron &amp; Furnon; Ropke &amp; Pisinger (2006)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TDHVRPTW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S-99: Clarke-Wright vs. OR-Tools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7607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629400" y="1508760"/>
            <a:ext cx="498348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949440" y="16276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21.8%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098280" y="16459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total distance with OR-Tools  consistent with the broader VRP literature on metaheuristic gains over constructive heuristics (Cordeau et al., 2002).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058400" y="2862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GLS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629400" y="3246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time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 sec (measured)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29400" y="3703320"/>
            <a:ext cx="4983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629400" y="37947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generated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29400" y="4251960"/>
            <a:ext cx="4983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629400" y="43434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served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05840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629400" y="4800600"/>
            <a:ext cx="4983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629400" y="48920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 guarantee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0" y="4892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(no formal bound)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629400" y="5349240"/>
            <a:ext cx="49834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TDHVRPTW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S-170: Infeasibility as Insight, Not Failure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1E2F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B5443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157" y="203499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174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68680" y="3291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pallets demanded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180 fleet capacity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(96.7% utilisation)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4160520"/>
            <a:ext cx="338328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868680" y="4343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not the constraint.
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8680" y="4937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per-stop service time + morning congestion erode the 08:00-12:00 window faster than the 405-minute route limit allows.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37760" y="1600200"/>
            <a:ext cx="6675120" cy="4023360"/>
          </a:xfrm>
          <a:prstGeom prst="roundRect">
            <a:avLst>
              <a:gd name="adj" fmla="val 1818"/>
            </a:avLst>
          </a:prstGeom>
          <a:solidFill>
            <a:srgbClr val="1E2F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257800" y="18745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strength, not a failure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257800" y="2423160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5532120" y="22860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the binding constraint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532120" y="2624328"/>
            <a:ext cx="5806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identifies exactly which constraint (time, not capacity) limits the system — actionable for managers.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257800" y="3383280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532120" y="32461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model correctness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532120" y="3584448"/>
            <a:ext cx="5806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solver that always finds a solution regardless of input isn't trustworthy; correctly flagging infeasibility is evidence the constraints are real.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257800" y="4343400"/>
            <a:ext cx="128016" cy="128016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5532120" y="42062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concrete recommendations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5532120" y="4544568"/>
            <a:ext cx="5806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5th heavy truck, extend the delivery window to 13:00, or permit split deliveries — each a costed managerial option.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937760" y="5166360"/>
            <a:ext cx="6675120" cy="457200"/>
          </a:xfrm>
          <a:prstGeom prst="rect">
            <a:avLst/>
          </a:prstGeom>
          <a:solidFill>
            <a:srgbClr val="12203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5257800" y="5193792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"Other teams can learn how to explain why a scenario is infeasible rather than treating infeasibility as a failure."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TDHVRPTW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7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Managerial Implications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02265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74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OR-Tools for Daily Planning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 distance reduction translates directly into fuel, time, and emissions savings for routine operations.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629400" y="187452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533" y="202265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74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Demand Growth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29400" y="25146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S-152 already requires the full fleet; growth beyond this threshold needs proactive capacity planning.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412577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9776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Around Congestion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4617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travel times materially change feasibility  static distance-only planning would understate risk.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70332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6629400" y="397764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7533" y="41257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39776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Stress Tests Proactively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629400" y="46177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infeasibility scenarios in advance identifies exactly when fleet expansion becomes necessary, before it becomes urgent.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TDHVRPTW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594360" cy="594360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57" y="754837"/>
            <a:ext cx="273406" cy="2734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Coherent, Reproducible Applied OR Study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2359152"/>
            <a:ext cx="292608" cy="292608"/>
          </a:xfrm>
          <a:prstGeom prst="ellipse">
            <a:avLst/>
          </a:prstGeom>
          <a:solidFill>
            <a:srgbClr val="1E2F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64008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28600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TDHVRPTW appropriately models heterogeneous fleets, hard time windows, and time-dependent congestion together.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292608" cy="292608"/>
          </a:xfrm>
          <a:prstGeom prst="ellipse">
            <a:avLst/>
          </a:prstGeom>
          <a:solidFill>
            <a:srgbClr val="1E2F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008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312724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modelling decision is justified against the literature  not asserted without support.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0080" y="4041648"/>
            <a:ext cx="292608" cy="292608"/>
          </a:xfrm>
          <a:prstGeom prst="ellipse">
            <a:avLst/>
          </a:prstGeom>
          <a:solidFill>
            <a:srgbClr val="1E2F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4008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396849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(241 km) outperforms Clarke-Wright (308.1 km) by 21.8% on the baseline scenario, with both results independently reproduced.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40080" y="4882896"/>
            <a:ext cx="292608" cy="292608"/>
          </a:xfrm>
          <a:prstGeom prst="ellipse">
            <a:avLst/>
          </a:prstGeom>
          <a:solidFill>
            <a:srgbClr val="1E2F5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40080" y="4882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480974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(S-99, S-152, S-170) and the S-170 stress test provide genuine managerial decision support, not just a single optimised solution.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Oetker → Lidl OWL Region  |  Team 01  |  Operations Research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Oetker - Lidl Distribution Optimisation</dc:title>
  <dc:subject>PptxGenJS Presentation</dc:subject>
  <dc:creator>Team 01</dc:creator>
  <cp:lastModifiedBy>Emmanuel Ezenwata</cp:lastModifiedBy>
  <cp:revision>2</cp:revision>
  <dcterms:created xsi:type="dcterms:W3CDTF">2026-06-30T08:10:44Z</dcterms:created>
  <dcterms:modified xsi:type="dcterms:W3CDTF">2026-06-30T10:30:37Z</dcterms:modified>
</cp:coreProperties>
</file>