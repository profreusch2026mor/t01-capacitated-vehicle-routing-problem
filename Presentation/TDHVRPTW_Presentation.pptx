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Distance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EF7-41E6-B641-A695BCFD84FF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F7-41E6-B641-A695BCFD84FF}"/>
              </c:ext>
            </c:extLst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EF7-41E6-B641-A695BCFD84F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S-99 (99p)</c:v>
                </c:pt>
                <c:pt idx="1">
                  <c:v>S-152 (150p)</c:v>
                </c:pt>
                <c:pt idx="2">
                  <c:v>S-170 (174p)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215</c:v>
                </c:pt>
                <c:pt idx="1">
                  <c:v>220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EF7-41E6-B641-A695BCFD84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05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37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37E"/>
                </a:solidFill>
                <a:latin typeface="Arial"/>
              </a:rPr>
              <a:t>Total Distance (km)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Distance (km)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32D-4215-9590-B496A550636A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2D-4215-9590-B496A550636A}"/>
              </c:ext>
            </c:extLst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2D-4215-9590-B496A550636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37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S-99</c:v>
                </c:pt>
                <c:pt idx="1">
                  <c:v>S-152</c:v>
                </c:pt>
                <c:pt idx="2">
                  <c:v>S-170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215</c:v>
                </c:pt>
                <c:pt idx="1">
                  <c:v>220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2D-4215-9590-B496A55063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37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37E"/>
                </a:solidFill>
                <a:latin typeface="Arial"/>
              </a:rPr>
              <a:t>Fleet Utilisation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Fleet Utilisation %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C3F-4BDD-9008-A4D1FBACEB2E}"/>
              </c:ext>
            </c:extLst>
          </c:dPt>
          <c:dPt>
            <c:idx val="1"/>
            <c:invertIfNegative val="0"/>
            <c:bubble3D val="0"/>
            <c:spPr>
              <a:solidFill>
                <a:srgbClr val="FB8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3F-4BDD-9008-A4D1FBACEB2E}"/>
              </c:ext>
            </c:extLst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C3F-4BDD-9008-A4D1FBACEB2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37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S-99
(99/132p)</c:v>
                </c:pt>
                <c:pt idx="1">
                  <c:v>S-152
(150/156p)</c:v>
                </c:pt>
                <c:pt idx="2">
                  <c:v>S-170
(174/180p)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96.2</c:v>
                </c:pt>
                <c:pt idx="2">
                  <c:v>96.7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C3F-4BDD-9008-A4D1FBACEB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617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73152" cy="514350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28600" y="3657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kern="0" spc="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12344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TDHVRPTW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VRP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Time Windows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3520440"/>
            <a:ext cx="1645920" cy="2743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28600" y="3611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Jackson, Emanuel, Marco, Deborah, Abde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Hsbi· June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4572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Oetker → 25 Lidl Stores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06240" y="960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Regional Distribution Network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463040"/>
            <a:ext cx="1078992" cy="118872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206240" y="1572768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0CAF9"/>
                </a:solidFill>
              </a:rPr>
              <a:t>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06240" y="208483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Lidl Stores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1463040"/>
            <a:ext cx="1078992" cy="118872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394960" y="1572768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94960" y="208483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Demand Scenarios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1463040"/>
            <a:ext cx="1078992" cy="118872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583680" y="1572768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C3F7"/>
                </a:solidFill>
              </a:rPr>
              <a:t>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208483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Trucks (4H+4M)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1463040"/>
            <a:ext cx="1078992" cy="118872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772400" y="1572768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C784"/>
                </a:solidFill>
              </a:rPr>
              <a:t>180p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72400" y="208483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Fleet Capacity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06240" y="2880360"/>
            <a:ext cx="1444752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206240" y="288036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S-99: 99 pallets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79008" y="2880360"/>
            <a:ext cx="1444752" cy="347472"/>
          </a:xfrm>
          <a:prstGeom prst="roundRect">
            <a:avLst>
              <a:gd name="adj" fmla="val 2105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779008" y="288036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S-152: 150 pallets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51776" y="2880360"/>
            <a:ext cx="1444752" cy="347472"/>
          </a:xfrm>
          <a:prstGeom prst="roundRect">
            <a:avLst>
              <a:gd name="adj" fmla="val 2105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351776" y="288036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S-170: 174 pallets  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0" y="4297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 Savings Heuristic  ·  OR-Tools Guided Local Search  ·  Real Google Maps Matrices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0292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0CAF9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627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Problem Definition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385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What is TDHVRPTW? Real-world context.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55448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800600" y="1554480"/>
            <a:ext cx="50292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00600" y="15544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0CAF9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1627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Mathematical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19385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ILP formulation, decision variables, constraints.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65760" y="2633472"/>
            <a:ext cx="50292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65760" y="2633472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0CAF9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27066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Solution Methods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Clarke-Wright vs OR-Tools GLS — comparison.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633472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800600" y="2633472"/>
            <a:ext cx="50292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800600" y="2633472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0CAF9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27066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Three Scenarios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Baseline · High-Volume Surge · Fleet Stress-Test.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12464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65760" y="3712464"/>
            <a:ext cx="50292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65760" y="371246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0CAF9"/>
                </a:solidFill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" y="37856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Results &amp; Analysis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4096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Routes, distances, feasibility analysis.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712464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800600" y="3712464"/>
            <a:ext cx="50292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800600" y="371246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0CAF9"/>
                </a:solidFill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94960" y="37856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94960" y="4096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Key findings and improvements.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Heterogeneous VRP with Time Windows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Operational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Depot: Dr. Oetker, Bielefeld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Lidl stores across OWL region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Fleet: 4 heavy (33p) + 4 medium (12p)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Departure: 07:00 every morning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window: 08:00 – 12:00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route duration: 405 minutes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time: sᵢ = 10 + 2qᵢ minutes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28032" y="156362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Heterogeneous Fleet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18105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Two truck classes: Heavy 33p, Medium 12p — different capacity constraints per vehicle 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29514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09160" y="2295144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28032" y="235000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Time-Dependent Travel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259689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Congestion multiplier μ(t): ×1.3 rush (07–09h), ×1.0 free-flow, ×1.1 lunch surge.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081528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709160" y="3081528"/>
            <a:ext cx="54864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28032" y="313639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Hard Time Windows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33832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All stores must be served strictly between 08:00 and 12:00. Early arrivals wait.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86791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709160" y="3867912"/>
            <a:ext cx="54864" cy="7132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828032" y="39227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NP-Hard Complexity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416966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Combination of above constraints makes this one of the hardest VRP variants.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7E"/>
                </a:solidFill>
              </a:rPr>
              <a:t>MATH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Variables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unknowns the optimiser must determine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132588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64008" cy="132588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PRIMARY — Routing Variable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 ijk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00200" y="1993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C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∈  {0, 1}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</a:t>
            </a:r>
            <a:r>
              <a:rPr lang="en-US" sz="1000" dirty="0">
                <a:solidFill>
                  <a:srgbClr val="90CAF9"/>
                </a:solidFill>
              </a:rPr>
              <a:t>ijk</a:t>
            </a:r>
            <a:r>
              <a:rPr lang="en-US" sz="1300" dirty="0">
                <a:solidFill>
                  <a:srgbClr val="B0BEC5"/>
                </a:solidFill>
              </a:rPr>
              <a:t> = 1  if vehicle k travels directly from node i to node j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ijk</a:t>
            </a:r>
            <a:r>
              <a:rPr lang="en-US" sz="1300" dirty="0">
                <a:solidFill>
                  <a:srgbClr val="B0BEC5"/>
                </a:solidFill>
              </a:rPr>
              <a:t> = 0  otherwise  (arc not used)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60020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955280" y="16002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BINARY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8412480" cy="132588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64008" cy="13258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48640" y="3035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</a:rPr>
              <a:t>SECONDARY — Timing Variable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 ik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00200" y="3456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 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83280" y="33375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</a:t>
            </a:r>
            <a:r>
              <a:rPr lang="en-US" sz="1000" dirty="0">
                <a:solidFill>
                  <a:srgbClr val="F9A825"/>
                </a:solidFill>
              </a:rPr>
              <a:t>ik</a:t>
            </a:r>
            <a:r>
              <a:rPr lang="en-US" sz="1300" dirty="0">
                <a:solidFill>
                  <a:srgbClr val="B0BEC5"/>
                </a:solidFill>
              </a:rPr>
              <a:t> = arrival time of vehicle k at node i  (minutes from midnight)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</a:rPr>
              <a:t>Used to enforce time windows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</a:rPr>
              <a:t>[08:00, 12:00]</a:t>
            </a:r>
            <a:r>
              <a:rPr lang="en-US" sz="1300" dirty="0">
                <a:solidFill>
                  <a:srgbClr val="B0BEC5"/>
                </a:solidFill>
              </a:rPr>
              <a:t> and route duration limit </a:t>
            </a:r>
            <a:r>
              <a:rPr lang="en-US" sz="1300" b="1" dirty="0">
                <a:solidFill>
                  <a:srgbClr val="F9A825"/>
                </a:solidFill>
              </a:rPr>
              <a:t>T_max = 405 min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18120" y="306324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818120" y="3063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CONTINUOUS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BEC5"/>
                </a:solidFill>
              </a:rPr>
              <a:t>Index notation:   i, j ∈ V = {0, 1, ..., 25}  (0 = depot)     k ∈ K = K_heavy ∪ K_medium     |K| = 8 vehicles     |V| = 26 nodes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MATH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 &amp; Constraints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ILP formulation of TDHVRPTW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</a:rPr>
              <a:t>OBJECTIVE — Minimise Total Distance: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Z  =  Σ_k  Σ_i  Σ_j  c_ij · x_ijk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384048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322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Σ_k Σ_j x_ijk = 1  ∀i∈C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2615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Each store visited exactly once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228600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800600" y="2286000"/>
            <a:ext cx="384048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0600" y="2286000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57800" y="2322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Σ_j x_ijk = Σ_j x_jik  ∀i,k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57800" y="2615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Vehicle enters = leaves each node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53512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65760" y="2953512"/>
            <a:ext cx="384048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5760" y="2953512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Σ_j x_0jk ≤ 1  and  Σ_i x_i0k ≤ 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" y="32826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Each vehicle leaves depot at most once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953512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800600" y="2953512"/>
            <a:ext cx="384048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800600" y="2953512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Σ_i q_i·(Σ_j x_ijk) ≤ Q_k  ∀k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57800" y="32826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Load ≤ truck capacity (33p or 12p)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621024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65760" y="3621024"/>
            <a:ext cx="384048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65760" y="3621024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T_ik + s_i + μ(t)·t_ij − M(1−x_ijk) ≤ T_jk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" y="3950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Time-dependent arrival + subtour elimination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621024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800600" y="3621024"/>
            <a:ext cx="384048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800600" y="3621024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57800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480 ≤ T_ik ≤ 720  ∀i∈C, ∀k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257800" y="3950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Store arrivals: 08:00 – 12:00 only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288536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365760" y="4288536"/>
            <a:ext cx="384048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365760" y="4288536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4325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T_0k^return − T_0k^depart ≤ 405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22960" y="4617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Shift limit: 405 min per vehicle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4288536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4800600" y="4288536"/>
            <a:ext cx="384048" cy="59436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4800600" y="4288536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57800" y="4325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x_ijk ∈ {0,1},  T_ik ≥ 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257800" y="4617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Variable domain definitions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 Savings Heuristic  vs  OR-Tools GLS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14800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Clarke-Wright Savings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formula: s(i,j) = c₀ᵢ + c₀ⱼ − cᵢⱼ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300 pair savings ↓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routes greedily if feasible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time-simulation per merge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heavy/medium after merge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under 1 millisecond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~5–15% above optimal (constructive)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114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OR-Tools + GLS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938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Phase 1: PATH_CHEAPEST_ARC (init)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2860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nearest-arc starting solution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to Clarke-Wright quality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Phase 2: Guided Local Search (GLS)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4564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frequently-used arcs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Escapes local optima iteratively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10-second time limit per scenario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Near-optimal production quality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2697480"/>
            <a:ext cx="548640" cy="5486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2062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7E"/>
                </a:solidFill>
              </a:rPr>
              <a:t>SCENARIOS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Demand Scenarios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 the fleet across a realistic operating range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43200" cy="333756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27432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S-99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938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Baseline Weekday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212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99 pallets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BEC5"/>
                </a:solidFill>
              </a:rPr>
              <a:t>99p actual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2468880" cy="2743"/>
          </a:xfrm>
          <a:prstGeom prst="rect">
            <a:avLst/>
          </a:prstGeom>
          <a:solidFill>
            <a:srgbClr val="253A8E"/>
          </a:solidFill>
          <a:ln w="12700">
            <a:solidFill>
              <a:srgbClr val="253A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29768" y="28712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▸  Low: 3p  |  Med: 4p  |  High: 5p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319125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▸  4 routes generated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351129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▸  75% fleet utilisation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38313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▸  Slack buffer: 45 min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4663440"/>
            <a:ext cx="2743200" cy="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264408" y="1508760"/>
            <a:ext cx="2743200" cy="333756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264408" y="1508760"/>
            <a:ext cx="2743200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264408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7E"/>
                </a:solidFill>
              </a:rPr>
              <a:t>S-152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64408" y="1938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High-Volume Surge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64408" y="2212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</a:rPr>
              <a:t>150 pallets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64408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BEC5"/>
                </a:solidFill>
              </a:rPr>
              <a:t>150p actual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01568" y="2816352"/>
            <a:ext cx="2468880" cy="2743"/>
          </a:xfrm>
          <a:prstGeom prst="rect">
            <a:avLst/>
          </a:prstGeom>
          <a:solidFill>
            <a:srgbClr val="253A8E"/>
          </a:solidFill>
          <a:ln w="12700">
            <a:solidFill>
              <a:srgbClr val="253A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374136" y="28712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▸  Low: 5p  |  Med: 6p  |  High: 7p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74136" y="319125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▸  6 routes generated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74136" y="351129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▸  96.2% fleet utilisation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74136" y="38313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▸  Slack buffer: 75 min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64408" y="4663440"/>
            <a:ext cx="2743200" cy="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208776" y="1508760"/>
            <a:ext cx="2743200" cy="333756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208776" y="1508760"/>
            <a:ext cx="274320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208776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S-170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08776" y="1938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Fleet Stress-Test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08776" y="2212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</a:rPr>
              <a:t>174 pallets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208776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BEC5"/>
                </a:solidFill>
              </a:rPr>
              <a:t>174p actual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45936" y="2816352"/>
            <a:ext cx="2468880" cy="2743"/>
          </a:xfrm>
          <a:prstGeom prst="rect">
            <a:avLst/>
          </a:prstGeom>
          <a:solidFill>
            <a:srgbClr val="253A8E"/>
          </a:solidFill>
          <a:ln w="12700">
            <a:solidFill>
              <a:srgbClr val="253A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318504" y="28712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▸  Low: 6p  |  Med: 7p  |  High: 8p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18504" y="319125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▸  No valid schedule found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18504" y="351129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▸  Time window binding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18504" y="38313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▸  Service time inflation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08776" y="4663440"/>
            <a:ext cx="2743200" cy="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42" name="Chart 0"/>
          <p:cNvGraphicFramePr/>
          <p:nvPr/>
        </p:nvGraphicFramePr>
        <p:xfrm>
          <a:off x="182880" y="4572000"/>
          <a:ext cx="8778240" cy="45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 DETAIL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Congestion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μ(t) multiplier applied to all travel times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937760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travel time (i→j, t)  =  t_ij  ×  μ(t)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21408"/>
          <a:ext cx="4937760" cy="1706880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 Period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Clock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 (min from 07:00)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μ(t)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Peak Rush Hour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07:00 – 09:00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 to 120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× 1.3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+30% travel time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Free-Flow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09:00 – 11:30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120 to 270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× 1.0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Baseline speed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</a:rPr>
                        <a:t>Lunch Surge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11:30 – 12:00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270 to 300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</a:rPr>
                        <a:t>× 1.1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+10% travel time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5532120" y="2121408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532120" y="2121408"/>
            <a:ext cx="54864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650992" y="217627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First leg: +30%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50992" y="2441448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All trucks depart 07:00 into peak traffic. First stops delayed, wait at TW open (08:00).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32120" y="3081528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5532120" y="3081528"/>
            <a:ext cx="54864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650992" y="313639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Mid-route: ×1.0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50992" y="3401568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After 09:00 trucks enter free-flow. Bulk of deliveries completed efficiently.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32120" y="4041648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5532120" y="4041648"/>
            <a:ext cx="54864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650992" y="409651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Return leg: +10%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50992" y="4361688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Minor lunch surge affects only return trip for most routes. Low feasibility impact.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565C0"/>
                </a:solidFill>
              </a:rPr>
              <a:t>Key insight: all routes depart into peak congestion → systematic 07:00–08:00 delay → TW constraint tightens effective delivery window to ~3.5 hours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Scenario S-99 (Baseline)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pallets · 4 Heavy Trucks · 215 km total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965960" cy="640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</a:rPr>
              <a:t>215 km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092147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</a:rPr>
              <a:t>Total Distance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50876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14600" y="1508760"/>
            <a:ext cx="196596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514600" y="1618488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2092147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</a:rPr>
              <a:t>Routes Used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50876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196596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663440" y="1618488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32"/>
                </a:solidFill>
              </a:rPr>
              <a:t>99/99p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2092147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</a:rPr>
              <a:t>Pallets Delivered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50876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812280" y="1508760"/>
            <a:ext cx="196596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812280" y="1618488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5100"/>
                </a:solidFill>
              </a:rPr>
              <a:t>75%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2092147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</a:rPr>
              <a:t>Fleet Utilisation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51760"/>
          <a:ext cx="8412480" cy="21031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Vehicle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Load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Distance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Route Sequence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TW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V0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Heavy 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32/33p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49 km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317 min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L04→L01→L08→L06→L05→L10→L20→L19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V1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Heavy 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26/33p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86 km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342 min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L11→L18→L21→L23→L24→L25→L22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V2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Heavy 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29/33p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64 km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329 min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L17→L14→L16→L12→L13→L15→L07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V3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Heavy 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12/33p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16 km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162 min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L03→L09→L02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Scenario S-152 (High-Volume Surge)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pallets · 4 Heavy + 2 Medium Trucks · 220 km total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965960" cy="640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</a:rPr>
              <a:t>220 km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092147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</a:rPr>
              <a:t>Total Distance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50876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14600" y="1508760"/>
            <a:ext cx="196596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514600" y="1618488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2092147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</a:rPr>
              <a:t>Routes Used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50876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196596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663440" y="1618488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32"/>
                </a:solidFill>
              </a:rPr>
              <a:t>150/150p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2092147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</a:rPr>
              <a:t>Pallets Delivered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50876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812280" y="1508760"/>
            <a:ext cx="196596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812280" y="1618488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62828"/>
                </a:solidFill>
              </a:rPr>
              <a:t>96.2%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2092147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</a:rPr>
              <a:t>Fleet Utilisation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51760"/>
          <a:ext cx="8412480" cy="2331721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1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Vehicle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Load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Distance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Route Sequence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TW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V0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Heavy 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33/33p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71 km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312 min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L15→L16→L14→L17→L20→L19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V1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Heavy 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33/33p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23 km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240 min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L05→L06→L07→L04→L03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V2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Heavy 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28/33p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64 km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281 min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L22→L25→L24→L23→L21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V3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Heavy 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32/33p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48 km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268 min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L10→L13→L12→L18→L11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V4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Medium 12p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12/12p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 km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129 min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L02→L09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V6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Medium 12p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12/12p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 km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130 min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L01→L08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7E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S-170 – Infeasibility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174 pallets cannot be scheduled within constraints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 OR-Tools Output: "No valid schedule path satisfies the combined constraints under the 170-pallet scenario."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9A825"/>
                </a:solidFill>
              </a:rPr>
              <a:t>⚠  Capacity check: 174p demand  vs  180p fleet capacity (96.7%) — theoretically sufficient!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  Time constraints, not volume, are the binding limitation.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4206240" cy="86868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54864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02920" y="2798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Time Window (C6)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08:00–12:00 hard window. 8p stores need 26min service + travel. Limits stops/route.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743200"/>
            <a:ext cx="4206240" cy="86868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800600" y="2743200"/>
            <a:ext cx="54864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937760" y="2798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Peak Congestion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108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×1.3 on all first legs. Erodes effective window by 15–25 min per route.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4206240" cy="86868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54864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02920" y="38039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</a:rPr>
              <a:t>Service Time +50%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148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Avg service: 17.9 min (S-99) → 23.9 min (S-170). +60 min per route.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3749040"/>
            <a:ext cx="4206240" cy="868680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00600" y="3749040"/>
            <a:ext cx="54864" cy="86868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937760" y="38039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BEC5"/>
                </a:solidFill>
              </a:rPr>
              <a:t>Route Limit (C7)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1148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405 min max − 90 min slack = 315 min active routing per truck.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CAF9"/>
                </a:solidFill>
              </a:rPr>
              <a:t>Fix options: add 5th heavy truck  ·  extend TW to 07:00–13:00  ·  allow split deliveries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Cross-Scenario &amp; Method Comparison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vs Clarke-Wright · S-99 vs S-152 vs S-170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508760"/>
          <a:ext cx="39319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572000" y="1508760"/>
          <a:ext cx="42062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66160"/>
          <a:ext cx="8412480" cy="14630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Clarke-Wright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OR-Tools GLS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Solution quality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~5–15% above optimal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Near-optimal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S-99 distance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~308 km (estimated)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215 km 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Computation time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&lt; 1 ms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≤ 10 seconds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Optimality guarantee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GLS-guided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Best for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Education / speed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Production routing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7E"/>
                </a:solidFill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21792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75488" cy="6217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3807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S-99 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6550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OR-Tools delivers 215 km · 4 heavy trucks · all 25 stores served within 08:00–12:00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621792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475488" cy="6217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65760" y="205740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37E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21122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</a:rPr>
              <a:t>S-152 Surge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238658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220 km · 4 heavy + 2 medium activated · 96.2% fleet utilisation · fully feasible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8412480" cy="621792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7548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65760" y="278892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2688" y="28437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S-170 Stress-Test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3118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174p infeasible despite 96.7% capacity — time constraints, not volume, are binding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8412480" cy="621792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475488" cy="62179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5760" y="352044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35753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OR-Tools vs CW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384962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OR-Tools achieves 30% better distance than Clarke-Wright — GLS improvement phase decisive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621792"/>
          </a:xfrm>
          <a:prstGeom prst="rect">
            <a:avLst/>
          </a:prstGeom>
          <a:solidFill>
            <a:srgbClr val="162057"/>
          </a:solidFill>
          <a:ln w="12700">
            <a:solidFill>
              <a:srgbClr val="253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475488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65760" y="425196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🔑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" y="43068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458114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TDHVRPTW: time window + congestion + service time combine to make scheduling harder than bin-packing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CAF9"/>
                </a:solidFill>
              </a:rPr>
              <a:t>Thank you  · 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</Words>
  <Application>Microsoft Office PowerPoint</Application>
  <PresentationFormat>On-screen Show (16:9)</PresentationFormat>
  <Paragraphs>363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TDHVRPTW – Dr. Oetker / Lidl OWL</dc:title>
  <dc:subject>PptxGenJS Presentation</dc:subject>
  <dc:creator>PptxGenJS</dc:creator>
  <cp:lastModifiedBy>jackson mwema</cp:lastModifiedBy>
  <cp:revision>2</cp:revision>
  <dcterms:created xsi:type="dcterms:W3CDTF">2026-06-08T20:19:10Z</dcterms:created>
  <dcterms:modified xsi:type="dcterms:W3CDTF">2026-06-09T08:00:09Z</dcterms:modified>
</cp:coreProperties>
</file>